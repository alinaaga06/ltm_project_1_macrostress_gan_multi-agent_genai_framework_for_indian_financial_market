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p:cNvPicPr>
            <a:picLocks noChangeAspect="1" noChangeArrowheads="1"/>
          </p:cNvPicPr>
          <p:nvPr userDrawn="1"/>
        </p:nvPicPr>
        <p:blipFill>
          <a:blip r:embed="rId4" cstate="print">
            <a:extLst>
              <a:ext uri="{BEBA8EAE-BF5A-486C-A8C5-ECC9F3942E4B}">
                <a14:imgProps xmlns:a14="http://schemas.microsoft.com/office/drawing/2010/main">
                  <a14:imgLayer r:embed="rId5">
                    <a14:imgEffect>
                      <a14:brightnessContrast bright="-2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p:cNvSpPr txBox="1"/>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p:cNvSpPr txBox="1"/>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p:cNvSpPr txBox="1"/>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p:cNvPicPr>
            <a:picLocks noChangeAspect="1"/>
          </p:cNvPicPr>
          <p:nvPr userDrawn="1"/>
        </p:nvPicPr>
        <p:blipFill>
          <a:blip r:embed="rId6">
            <a:extLst>
              <a:ext uri="{BEBA8EAE-BF5A-486C-A8C5-ECC9F3942E4B}">
                <a14:imgProps xmlns:a14="http://schemas.microsoft.com/office/drawing/2010/main">
                  <a14:imgLayer r:embed="rId7">
                    <a14:imgEffect>
                      <a14:brightnessContrast bright="-20000" contrast="20000"/>
                    </a14:imgEffect>
                  </a14:imgLayer>
                </a14:imgProps>
              </a:ext>
            </a:extLst>
          </a:blip>
          <a:stretch>
            <a:fillRect/>
          </a:stretch>
        </p:blipFill>
        <p:spPr>
          <a:xfrm>
            <a:off x="105554" y="6358271"/>
            <a:ext cx="964436" cy="411216"/>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microsoft.com/office/2007/relationships/hdphoto" Target="../media/hdphoto3.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ai.meta.com/blog/meta-llama-3-1/?utm_source=chatgpt.com" TargetMode="External"/><Relationship Id="rId2" Type="http://schemas.openxmlformats.org/officeDocument/2006/relationships/hyperlink" Target="https://proceedings.neurips.cc/paper/2019/hash/c9efe5f26cd17ba6216bbe2a7d26d490-Abstract.html?utm_source=chatgpt.com" TargetMode="External"/><Relationship Id="rId1" Type="http://schemas.openxmlformats.org/officeDocument/2006/relationships/slideLayout" Target="../slideLayouts/slideLayout1.xml"/><Relationship Id="rId4" Type="http://schemas.openxmlformats.org/officeDocument/2006/relationships/hyperlink" Target="https://reference.langchain.com/python/langgraph/overview?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1269" y="14965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p:cNvSpPr>
            <a:spLocks noGrp="1"/>
          </p:cNvSpPr>
          <p:nvPr>
            <p:ph type="body" sz="quarter" idx="13"/>
          </p:nvPr>
        </p:nvSpPr>
        <p:spPr>
          <a:xfrm>
            <a:off x="2289635" y="17705"/>
            <a:ext cx="6910121" cy="1058125"/>
          </a:xfrm>
        </p:spPr>
        <p:txBody>
          <a:bodyPr/>
          <a:lstStyle/>
          <a:p>
            <a:pPr marL="0" indent="0" algn="ctr">
              <a:buNone/>
            </a:pPr>
            <a:r>
              <a:rPr lang="en-US" sz="4400" dirty="0" err="1">
                <a:solidFill>
                  <a:schemeClr val="bg1"/>
                </a:solidFill>
              </a:rPr>
              <a:t>M.Tech</a:t>
            </a:r>
            <a:r>
              <a:rPr lang="en-US" sz="4400" dirty="0">
                <a:solidFill>
                  <a:schemeClr val="bg1"/>
                </a:solidFill>
              </a:rPr>
              <a:t> Program </a:t>
            </a:r>
          </a:p>
          <a:p>
            <a:pPr marL="0" indent="0" algn="ctr">
              <a:buNone/>
            </a:pPr>
            <a:r>
              <a:rPr lang="en-US" sz="2000" dirty="0">
                <a:solidFill>
                  <a:schemeClr val="bg1"/>
                </a:solidFill>
              </a:rPr>
              <a:t>Advanced Industry Integrated Programs</a:t>
            </a:r>
          </a:p>
        </p:txBody>
      </p:sp>
      <p:cxnSp>
        <p:nvCxnSpPr>
          <p:cNvPr id="15" name="Straight Connector 14"/>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p:cNvSpPr txBox="1"/>
          <p:nvPr/>
        </p:nvSpPr>
        <p:spPr>
          <a:xfrm>
            <a:off x="180236" y="1659822"/>
            <a:ext cx="11428184" cy="563231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3600" b="1" dirty="0">
                <a:solidFill>
                  <a:prstClr val="white"/>
                </a:solidFill>
                <a:cs typeface="Calibri" panose="020F0502020204030204" pitchFamily="34" charset="0"/>
              </a:rPr>
              <a:t>Review III</a:t>
            </a:r>
          </a:p>
          <a:p>
            <a:pPr algn="ctr">
              <a:defRPr/>
            </a:pPr>
            <a:r>
              <a:rPr lang="en-US" sz="3600" dirty="0" err="1">
                <a:latin typeface="Times New Roman" panose="02020603050405020304" pitchFamily="18" charset="0"/>
                <a:cs typeface="Times New Roman" panose="02020603050405020304" pitchFamily="18" charset="0"/>
              </a:rPr>
              <a:t>GraphRAG</a:t>
            </a:r>
            <a:r>
              <a:rPr lang="en-US" sz="3600" dirty="0">
                <a:latin typeface="Times New Roman" panose="02020603050405020304" pitchFamily="18" charset="0"/>
                <a:cs typeface="Times New Roman" panose="02020603050405020304" pitchFamily="18" charset="0"/>
              </a:rPr>
              <a:t> - Based Smart Additive Manufacturing for Process Parameter     </a:t>
            </a:r>
            <a:br>
              <a:rPr lang="en-IN"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Optimization</a:t>
            </a:r>
          </a:p>
          <a:p>
            <a:pPr marL="0" marR="0" lvl="0" indent="0" algn="ctr" defTabSz="914400" rtl="0" eaLnBrk="1" fontAlgn="auto" latinLnBrk="0" hangingPunct="1">
              <a:lnSpc>
                <a:spcPct val="100000"/>
              </a:lnSpc>
              <a:spcBef>
                <a:spcPts val="0"/>
              </a:spcBef>
              <a:spcAft>
                <a:spcPts val="0"/>
              </a:spcAft>
              <a:buClrTx/>
              <a:buSzTx/>
              <a:buFontTx/>
              <a:buNone/>
              <a:defRPr/>
            </a:pPr>
            <a:endParaRPr lang="en-US" sz="3600" b="1" dirty="0">
              <a:solidFill>
                <a:prstClr val="white"/>
              </a:solidFill>
              <a:cs typeface="Calibri" panose="020F0502020204030204" pitchFamily="34" charset="0"/>
            </a:endParaRPr>
          </a:p>
          <a:p>
            <a:pPr lvl="0" algn="ctr">
              <a:defRPr/>
            </a:pPr>
            <a:r>
              <a:rPr lang="en-US" sz="2400" b="1" dirty="0">
                <a:solidFill>
                  <a:prstClr val="white"/>
                </a:solidFill>
                <a:cs typeface="Calibri" panose="020F0502020204030204" pitchFamily="34" charset="0"/>
              </a:rPr>
              <a:t>BY ALINA NASIR AGA</a:t>
            </a:r>
          </a:p>
          <a:p>
            <a:pPr lvl="0" algn="ctr">
              <a:defRPr/>
            </a:pPr>
            <a:r>
              <a:rPr lang="en-US" sz="2400" b="1" dirty="0">
                <a:solidFill>
                  <a:prstClr val="white"/>
                </a:solidFill>
                <a:cs typeface="Calibri" panose="020F0502020204030204" pitchFamily="34" charset="0"/>
              </a:rPr>
              <a:t>VIT CHENNAI</a:t>
            </a:r>
          </a:p>
          <a:p>
            <a:pPr algn="ctr">
              <a:defRPr/>
            </a:pPr>
            <a:endParaRPr lang="en-US" sz="2400" b="1" dirty="0">
              <a:solidFill>
                <a:prstClr val="white"/>
              </a:solidFill>
              <a:cs typeface="Calibri" panose="020F0502020204030204" pitchFamily="34" charset="0"/>
            </a:endParaRP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213728179"/>
              </p:ext>
            </p:extLst>
          </p:nvPr>
        </p:nvGraphicFramePr>
        <p:xfrm>
          <a:off x="-47216" y="536381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20000"/>
                    </a:ext>
                  </a:extLst>
                </a:gridCol>
                <a:gridCol w="6119608">
                  <a:extLst>
                    <a:ext uri="{9D8B030D-6E8A-4147-A177-3AD203B41FA5}">
                      <a16:colId xmlns:a16="http://schemas.microsoft.com/office/drawing/2014/main" val="20001"/>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pic>
        <p:nvPicPr>
          <p:cNvPr id="8" name="Picture 7"/>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r>
              <a:rPr lang="en-IN" sz="2400" b="0" dirty="0">
                <a:latin typeface="+mn-lt"/>
              </a:rPr>
              <a:t>Laser Powder Bed Fusion (LPBF) is an advanced additive manufacturing process for producing complex metal components. </a:t>
            </a:r>
          </a:p>
          <a:p>
            <a:r>
              <a:rPr lang="en-IN" sz="2400" b="0" dirty="0">
                <a:latin typeface="+mn-lt"/>
              </a:rPr>
              <a:t>Process parameters such as laser power, scan speed, hatch spacing, and layer thickness strongly affect product quality. </a:t>
            </a:r>
          </a:p>
          <a:p>
            <a:r>
              <a:rPr lang="en-IN" sz="2400" b="0" dirty="0">
                <a:latin typeface="+mn-lt"/>
              </a:rPr>
              <a:t>Selecting optimal parameters is challenging due to the complex relationship between process parameters, porosity, and tensile strength. </a:t>
            </a:r>
          </a:p>
          <a:p>
            <a:r>
              <a:rPr lang="en-IN" sz="2400" b="0" dirty="0">
                <a:latin typeface="+mn-lt"/>
              </a:rPr>
              <a:t>This project combines Machine Learning, Neo4j Knowledge Graph, GraphRAG, and Llama 3.1 8B for intelligent process optimization. </a:t>
            </a:r>
          </a:p>
          <a:p>
            <a:r>
              <a:rPr lang="en-IN" sz="2400" b="0" dirty="0">
                <a:latin typeface="+mn-lt"/>
              </a:rPr>
              <a:t>The system recommends parameters to minimize porosity while maintaining high tensile strength.</a:t>
            </a:r>
          </a:p>
          <a:p>
            <a:pPr marL="0" indent="0">
              <a:lnSpc>
                <a:spcPct val="150000"/>
              </a:lnSpc>
              <a:buNone/>
            </a:pPr>
            <a:endParaRPr lang="en-US" sz="2400" b="0" dirty="0">
              <a:solidFill>
                <a:srgbClr val="5583D1"/>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r>
              <a:rPr lang="en-GB" sz="2400" b="0" dirty="0">
                <a:latin typeface="+mn-lt"/>
                <a:cs typeface="Times New Roman" panose="02020603050405020304" pitchFamily="18" charset="0"/>
              </a:rPr>
              <a:t>Build a Manufacturing Knowledge Graph.</a:t>
            </a:r>
          </a:p>
          <a:p>
            <a:r>
              <a:rPr lang="en-GB" sz="2400" b="0" dirty="0">
                <a:latin typeface="+mn-lt"/>
                <a:cs typeface="Times New Roman" panose="02020603050405020304" pitchFamily="18" charset="0"/>
              </a:rPr>
              <a:t>Retrieve domain knowledge using GraphRAG.</a:t>
            </a:r>
          </a:p>
          <a:p>
            <a:r>
              <a:rPr lang="en-GB" sz="2400" b="0" dirty="0">
                <a:latin typeface="+mn-lt"/>
                <a:cs typeface="Times New Roman" panose="02020603050405020304" pitchFamily="18" charset="0"/>
              </a:rPr>
              <a:t>Predict manufacturing outcomes using ML models.</a:t>
            </a:r>
          </a:p>
          <a:p>
            <a:r>
              <a:rPr lang="en-GB" sz="2400" b="0" dirty="0">
                <a:latin typeface="+mn-lt"/>
                <a:cs typeface="Times New Roman" panose="02020603050405020304" pitchFamily="18" charset="0"/>
              </a:rPr>
              <a:t>Optimize process parameters for quality and defect reduction.</a:t>
            </a:r>
          </a:p>
          <a:p>
            <a:r>
              <a:rPr lang="en-GB" sz="2400" b="0" dirty="0">
                <a:latin typeface="+mn-lt"/>
                <a:cs typeface="Times New Roman" panose="02020603050405020304" pitchFamily="18" charset="0"/>
              </a:rPr>
              <a:t>Generate explainable recommendations using Llama</a:t>
            </a:r>
            <a:r>
              <a:rPr lang="en-GB" sz="2400" dirty="0">
                <a:latin typeface="+mn-lt"/>
                <a:cs typeface="Times New Roman" panose="02020603050405020304" pitchFamily="18" charset="0"/>
              </a:rPr>
              <a:t>.</a:t>
            </a:r>
          </a:p>
          <a:p>
            <a:pPr marL="0" indent="0">
              <a:lnSpc>
                <a:spcPct val="150000"/>
              </a:lnSpc>
              <a:buNone/>
            </a:pPr>
            <a:endParaRPr lang="en-US" sz="2400" b="0" dirty="0">
              <a:solidFill>
                <a:srgbClr val="5583D1"/>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pPr marL="0" indent="0">
              <a:buNone/>
            </a:pPr>
            <a:r>
              <a:rPr lang="en-US" dirty="0">
                <a:solidFill>
                  <a:srgbClr val="5583D1"/>
                </a:solidFill>
                <a:latin typeface="+mn-lt"/>
              </a:rPr>
              <a:t>Subtopic </a:t>
            </a:r>
          </a:p>
          <a:p>
            <a:pPr marL="457200" indent="-457200">
              <a:buFont typeface="Arial" panose="020B0604020202020204" pitchFamily="34" charset="0"/>
              <a:buAutoNum type="arabicPeriod"/>
            </a:pPr>
            <a:r>
              <a:rPr lang="en-IN" sz="2400" b="0" dirty="0">
                <a:highlight>
                  <a:srgbClr val="FFFFFF"/>
                </a:highlight>
                <a:latin typeface="+mn-lt"/>
              </a:rPr>
              <a:t>Dataset &amp; Preprocessing - Dataset Understanding, Data Cleaning, EDA, Feature Engineering</a:t>
            </a:r>
          </a:p>
          <a:p>
            <a:pPr marL="457200" indent="-457200">
              <a:buFont typeface="Arial" panose="020B0604020202020204" pitchFamily="34" charset="0"/>
              <a:buAutoNum type="arabicPeriod"/>
            </a:pPr>
            <a:r>
              <a:rPr lang="en-IN" sz="2400" b="0" dirty="0">
                <a:latin typeface="+mn-lt"/>
              </a:rPr>
              <a:t>Machine Learning - Porosity Prediction, UTS Prediction, Model Training, Model Validation</a:t>
            </a:r>
          </a:p>
          <a:p>
            <a:pPr marL="457200" indent="-457200">
              <a:buFont typeface="Arial" panose="020B0604020202020204" pitchFamily="34" charset="0"/>
              <a:buAutoNum type="arabicPeriod"/>
            </a:pPr>
            <a:r>
              <a:rPr lang="en-IN" sz="2400" b="0" dirty="0">
                <a:latin typeface="+mn-lt"/>
              </a:rPr>
              <a:t>Knowledge Graph - Neo4j Aura, Graph Construction, Material–Process–Sample Relationships</a:t>
            </a:r>
          </a:p>
          <a:p>
            <a:pPr marL="457200" indent="-457200">
              <a:buFont typeface="Arial" panose="020B0604020202020204" pitchFamily="34" charset="0"/>
              <a:buAutoNum type="arabicPeriod"/>
            </a:pPr>
            <a:r>
              <a:rPr lang="en-IN" sz="2400" b="0" dirty="0">
                <a:latin typeface="+mn-lt"/>
              </a:rPr>
              <a:t>GraphRAG &amp; Generative AI - Query Understanding, Graph Retrieval, Llama 3.1 8B, AI-based Explanation</a:t>
            </a:r>
          </a:p>
          <a:p>
            <a:pPr marL="457200" indent="-457200">
              <a:buFont typeface="Arial" panose="020B0604020202020204" pitchFamily="34" charset="0"/>
              <a:buAutoNum type="arabicPeriod"/>
            </a:pPr>
            <a:r>
              <a:rPr lang="en-IN" sz="2400" b="0" dirty="0">
                <a:latin typeface="+mn-lt"/>
              </a:rPr>
              <a:t>Optimization &amp; Application - Parameter Recommendation, FastAPI Backend, Streamlit Dashboard, History &amp; Analytics</a:t>
            </a:r>
            <a:endParaRPr lang="en-US" sz="2400" b="0" dirty="0">
              <a:solidFill>
                <a:srgbClr val="242424"/>
              </a:solidFill>
              <a:highlight>
                <a:srgbClr val="FFFFFF"/>
              </a:highlight>
              <a:latin typeface="+mn-lt"/>
            </a:endParaRPr>
          </a:p>
          <a:p>
            <a:pPr marL="0" indent="0">
              <a:buNone/>
            </a:pPr>
            <a:endParaRPr lang="en-US" sz="2400" b="0" dirty="0">
              <a:solidFill>
                <a:srgbClr val="242424"/>
              </a:solidFill>
              <a:highlight>
                <a:srgbClr val="FFFFFF"/>
              </a:highlight>
              <a:latin typeface="source-serif-pro"/>
            </a:endParaRPr>
          </a:p>
          <a:p>
            <a:pPr marL="457200" lvl="1" indent="0">
              <a:buNone/>
            </a:pPr>
            <a:endParaRPr lang="en-US" dirty="0">
              <a:solidFill>
                <a:srgbClr val="1C3898"/>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093893" y="57036"/>
            <a:ext cx="6098107" cy="646331"/>
          </a:xfrm>
          <a:prstGeom prst="rect">
            <a:avLst/>
          </a:prstGeom>
          <a:noFill/>
        </p:spPr>
        <p:txBody>
          <a:bodyPr wrap="square" rtlCol="0">
            <a:spAutoFit/>
          </a:bodyPr>
          <a:lstStyle/>
          <a:p>
            <a:pPr algn="r"/>
            <a:endParaRPr lang="en-US" b="1" i="1" dirty="0">
              <a:solidFill>
                <a:srgbClr val="FFFFFF"/>
              </a:solidFill>
            </a:endParaRPr>
          </a:p>
          <a:p>
            <a:pPr algn="r"/>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r>
              <a:rPr lang="en-US" sz="2400" b="0" dirty="0">
                <a:latin typeface="+mn-lt"/>
                <a:cs typeface="Times New Roman" panose="02020603050405020304" pitchFamily="18" charset="0"/>
              </a:rPr>
              <a:t>Engineers in additive manufacturing face challenges in selecting optimal process parameters such as laser power, scan speed, layer thickness, and hatch spacing.</a:t>
            </a:r>
          </a:p>
          <a:p>
            <a:pPr marL="0" indent="0">
              <a:buNone/>
            </a:pPr>
            <a:endParaRPr lang="en-US" sz="2400" b="0" dirty="0">
              <a:latin typeface="+mn-lt"/>
              <a:cs typeface="Times New Roman" panose="02020603050405020304" pitchFamily="18" charset="0"/>
            </a:endParaRPr>
          </a:p>
          <a:p>
            <a:r>
              <a:rPr lang="en-US" sz="2400" b="0" dirty="0">
                <a:latin typeface="+mn-lt"/>
                <a:cs typeface="Times New Roman" panose="02020603050405020304" pitchFamily="18" charset="0"/>
              </a:rPr>
              <a:t>Incorrect settings can cause defects such as porosity, cracks, lack of fusion, and poor surface quality. </a:t>
            </a:r>
          </a:p>
          <a:p>
            <a:pPr marL="0" indent="0">
              <a:buNone/>
            </a:pPr>
            <a:endParaRPr lang="en-US" sz="2400" b="0" dirty="0">
              <a:latin typeface="+mn-lt"/>
              <a:cs typeface="Times New Roman" panose="02020603050405020304" pitchFamily="18" charset="0"/>
            </a:endParaRPr>
          </a:p>
          <a:p>
            <a:r>
              <a:rPr lang="en-US" sz="2400" b="0" dirty="0">
                <a:latin typeface="+mn-lt"/>
                <a:cs typeface="Times New Roman" panose="02020603050405020304" pitchFamily="18" charset="0"/>
              </a:rPr>
              <a:t>Traditional trial-and-error approaches are costly, time-consuming, and lack explainability.</a:t>
            </a:r>
          </a:p>
          <a:p>
            <a:pPr marL="0" indent="0">
              <a:lnSpc>
                <a:spcPct val="150000"/>
              </a:lnSpc>
              <a:buNone/>
            </a:pPr>
            <a:endParaRPr lang="en-US" sz="2400" b="0" dirty="0">
              <a:solidFill>
                <a:srgbClr val="5583D1"/>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593506" y="1420818"/>
            <a:ext cx="10624338" cy="4245426"/>
          </a:xfrm>
        </p:spPr>
        <p:txBody>
          <a:bodyPr/>
          <a:lstStyle/>
          <a:p>
            <a:pPr marL="0" indent="0">
              <a:lnSpc>
                <a:spcPct val="150000"/>
              </a:lnSpc>
              <a:buNone/>
            </a:pPr>
            <a:endParaRPr lang="en-US" sz="2400" b="0" dirty="0">
              <a:solidFill>
                <a:srgbClr val="5583D1"/>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pic>
        <p:nvPicPr>
          <p:cNvPr id="9" name="Picture 8">
            <a:extLst>
              <a:ext uri="{FF2B5EF4-FFF2-40B4-BE49-F238E27FC236}">
                <a16:creationId xmlns:a16="http://schemas.microsoft.com/office/drawing/2014/main" id="{EF53E965-4E19-094C-960E-EF5A1E540133}"/>
              </a:ext>
            </a:extLst>
          </p:cNvPr>
          <p:cNvPicPr>
            <a:picLocks noChangeAspect="1"/>
          </p:cNvPicPr>
          <p:nvPr/>
        </p:nvPicPr>
        <p:blipFill>
          <a:blip r:embed="rId2"/>
          <a:stretch>
            <a:fillRect/>
          </a:stretch>
        </p:blipFill>
        <p:spPr>
          <a:xfrm>
            <a:off x="449706" y="1346895"/>
            <a:ext cx="10987790" cy="439327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marL="0" indent="0">
              <a:lnSpc>
                <a:spcPct val="150000"/>
              </a:lnSpc>
              <a:buNone/>
            </a:pPr>
            <a:endParaRPr lang="en-US" sz="2400" b="0" dirty="0">
              <a:solidFill>
                <a:srgbClr val="5583D1"/>
              </a:solidFill>
            </a:endParaRPr>
          </a:p>
          <a:p>
            <a:pPr marL="0" indent="0">
              <a:lnSpc>
                <a:spcPct val="150000"/>
              </a:lnSpc>
              <a:buNone/>
            </a:pPr>
            <a:endParaRPr lang="en-US" sz="2400" b="0" dirty="0">
              <a:solidFill>
                <a:srgbClr val="5583D1"/>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pic>
        <p:nvPicPr>
          <p:cNvPr id="7" name="Picture 6">
            <a:extLst>
              <a:ext uri="{FF2B5EF4-FFF2-40B4-BE49-F238E27FC236}">
                <a16:creationId xmlns:a16="http://schemas.microsoft.com/office/drawing/2014/main" id="{02981617-2530-7F4C-2A6C-5407D1411B0C}"/>
              </a:ext>
            </a:extLst>
          </p:cNvPr>
          <p:cNvPicPr>
            <a:picLocks noChangeAspect="1"/>
          </p:cNvPicPr>
          <p:nvPr/>
        </p:nvPicPr>
        <p:blipFill>
          <a:blip r:embed="rId2"/>
          <a:stretch>
            <a:fillRect/>
          </a:stretch>
        </p:blipFill>
        <p:spPr>
          <a:xfrm>
            <a:off x="255996" y="1443792"/>
            <a:ext cx="11090227" cy="41429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9B139-D5CC-4BE9-0075-04B96E7F328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780592-E52E-887D-5C82-BBF343928AA9}"/>
              </a:ext>
            </a:extLst>
          </p:cNvPr>
          <p:cNvSpPr>
            <a:spLocks noGrp="1"/>
          </p:cNvSpPr>
          <p:nvPr>
            <p:ph type="body" sz="quarter" idx="13"/>
          </p:nvPr>
        </p:nvSpPr>
        <p:spPr>
          <a:xfrm>
            <a:off x="473710" y="1153305"/>
            <a:ext cx="10624338" cy="5202150"/>
          </a:xfrm>
        </p:spPr>
        <p:txBody>
          <a:bodyPr/>
          <a:lstStyle/>
          <a:p>
            <a:pPr marL="0" indent="0">
              <a:lnSpc>
                <a:spcPct val="150000"/>
              </a:lnSpc>
              <a:buNone/>
            </a:pPr>
            <a:r>
              <a:rPr lang="en-US" sz="2400" b="0" dirty="0">
                <a:solidFill>
                  <a:srgbClr val="5583D1"/>
                </a:solidFill>
                <a:latin typeface="+mn-lt"/>
              </a:rPr>
              <a:t>Tools</a:t>
            </a:r>
          </a:p>
          <a:p>
            <a:r>
              <a:rPr lang="en-IN" sz="2400" b="0" dirty="0">
                <a:latin typeface="+mn-lt"/>
              </a:rPr>
              <a:t>Programming – Python</a:t>
            </a:r>
          </a:p>
          <a:p>
            <a:r>
              <a:rPr lang="en-IN" sz="2400" b="0" dirty="0">
                <a:latin typeface="+mn-lt"/>
              </a:rPr>
              <a:t>ML - Scikit-learn</a:t>
            </a:r>
          </a:p>
          <a:p>
            <a:r>
              <a:rPr lang="en-IN" sz="2400" b="0" dirty="0">
                <a:latin typeface="+mn-lt"/>
              </a:rPr>
              <a:t>Deep/GenAI - Llama 3.1 8B</a:t>
            </a:r>
          </a:p>
          <a:p>
            <a:r>
              <a:rPr lang="en-IN" sz="2400" b="0" dirty="0">
                <a:latin typeface="+mn-lt"/>
              </a:rPr>
              <a:t>Graph Database - Neo4j </a:t>
            </a:r>
            <a:r>
              <a:rPr lang="en-IN" sz="2400" b="0" dirty="0" err="1">
                <a:latin typeface="+mn-lt"/>
              </a:rPr>
              <a:t>AuraDB</a:t>
            </a:r>
            <a:endParaRPr lang="en-IN" sz="2400" b="0" dirty="0">
              <a:latin typeface="+mn-lt"/>
            </a:endParaRPr>
          </a:p>
          <a:p>
            <a:r>
              <a:rPr lang="en-IN" sz="2400" b="0" dirty="0" err="1">
                <a:latin typeface="+mn-lt"/>
              </a:rPr>
              <a:t>GraphRAG</a:t>
            </a:r>
            <a:r>
              <a:rPr lang="en-IN" sz="2400" b="0" dirty="0">
                <a:latin typeface="+mn-lt"/>
              </a:rPr>
              <a:t> - Neo4j + </a:t>
            </a:r>
            <a:r>
              <a:rPr lang="en-IN" sz="2400" b="0" dirty="0" err="1">
                <a:latin typeface="+mn-lt"/>
              </a:rPr>
              <a:t>GraphRAG</a:t>
            </a:r>
            <a:r>
              <a:rPr lang="en-IN" sz="2400" b="0" dirty="0">
                <a:latin typeface="+mn-lt"/>
              </a:rPr>
              <a:t> pipeline</a:t>
            </a:r>
          </a:p>
          <a:p>
            <a:r>
              <a:rPr lang="en-IN" sz="2400" b="0" dirty="0">
                <a:latin typeface="+mn-lt"/>
              </a:rPr>
              <a:t>Optimization - </a:t>
            </a:r>
            <a:r>
              <a:rPr lang="en-IN" sz="2400" b="0" dirty="0" err="1">
                <a:latin typeface="+mn-lt"/>
              </a:rPr>
              <a:t>Optuna</a:t>
            </a:r>
            <a:r>
              <a:rPr lang="en-IN" sz="2400" b="0" dirty="0">
                <a:latin typeface="+mn-lt"/>
              </a:rPr>
              <a:t> 5.0.0</a:t>
            </a:r>
          </a:p>
          <a:p>
            <a:r>
              <a:rPr lang="en-IN" sz="2400" b="0" dirty="0">
                <a:latin typeface="+mn-lt"/>
              </a:rPr>
              <a:t>Web Application – </a:t>
            </a:r>
            <a:r>
              <a:rPr lang="en-IN" sz="2400" b="0" dirty="0" err="1">
                <a:latin typeface="+mn-lt"/>
              </a:rPr>
              <a:t>Streamlit</a:t>
            </a:r>
            <a:endParaRPr lang="en-IN" sz="2400" b="0" dirty="0">
              <a:latin typeface="+mn-lt"/>
            </a:endParaRPr>
          </a:p>
          <a:p>
            <a:r>
              <a:rPr lang="en-IN" sz="2400" b="0" dirty="0">
                <a:latin typeface="+mn-lt"/>
              </a:rPr>
              <a:t>3D Input - STL / OBJ</a:t>
            </a:r>
          </a:p>
          <a:p>
            <a:r>
              <a:rPr lang="en-IN" sz="2400" b="0" dirty="0">
                <a:latin typeface="+mn-lt"/>
              </a:rPr>
              <a:t>Backend/</a:t>
            </a:r>
            <a:r>
              <a:rPr lang="en-IN" sz="2400" b="0" dirty="0" err="1">
                <a:latin typeface="+mn-lt"/>
              </a:rPr>
              <a:t>APIPython</a:t>
            </a:r>
            <a:r>
              <a:rPr lang="en-IN" sz="2400" b="0" dirty="0">
                <a:latin typeface="+mn-lt"/>
              </a:rPr>
              <a:t> / </a:t>
            </a:r>
            <a:r>
              <a:rPr lang="en-IN" sz="2400" b="0" dirty="0" err="1">
                <a:latin typeface="+mn-lt"/>
              </a:rPr>
              <a:t>FastAPI</a:t>
            </a:r>
            <a:endParaRPr lang="en-US" sz="2400" b="0" dirty="0">
              <a:solidFill>
                <a:srgbClr val="5583D1"/>
              </a:solidFill>
              <a:latin typeface="+mn-lt"/>
            </a:endParaRP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EA746A16-A970-CB6E-1364-ED633B5C91ED}"/>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BAC7575-01D0-4DBF-3BE7-400205941493}"/>
              </a:ext>
            </a:extLst>
          </p:cNvPr>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AF668A8-ADBC-9EFC-847B-74C9F369A040}"/>
              </a:ext>
            </a:extLst>
          </p:cNvPr>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383432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marL="0" indent="0">
              <a:lnSpc>
                <a:spcPct val="150000"/>
              </a:lnSpc>
              <a:buNone/>
            </a:pPr>
            <a:endParaRPr lang="en-US" sz="2400" b="0" dirty="0">
              <a:solidFill>
                <a:srgbClr val="5583D1"/>
              </a:solidFill>
              <a:latin typeface="+mn-lt"/>
            </a:endParaRPr>
          </a:p>
          <a:p>
            <a:pPr marL="0" indent="0">
              <a:lnSpc>
                <a:spcPct val="150000"/>
              </a:lnSpc>
              <a:buNone/>
            </a:pPr>
            <a:endParaRPr lang="en-US" sz="2400" b="0" dirty="0">
              <a:solidFill>
                <a:srgbClr val="5583D1"/>
              </a:solidFill>
              <a:latin typeface="+mn-lt"/>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
        <p:nvSpPr>
          <p:cNvPr id="9" name="TextBox 8">
            <a:extLst>
              <a:ext uri="{FF2B5EF4-FFF2-40B4-BE49-F238E27FC236}">
                <a16:creationId xmlns:a16="http://schemas.microsoft.com/office/drawing/2014/main" id="{B30B8EA8-1496-2F40-5233-77352E8CF02C}"/>
              </a:ext>
            </a:extLst>
          </p:cNvPr>
          <p:cNvSpPr txBox="1"/>
          <p:nvPr/>
        </p:nvSpPr>
        <p:spPr>
          <a:xfrm>
            <a:off x="453452" y="1594385"/>
            <a:ext cx="6123482" cy="2677656"/>
          </a:xfrm>
          <a:prstGeom prst="rect">
            <a:avLst/>
          </a:prstGeom>
          <a:noFill/>
        </p:spPr>
        <p:txBody>
          <a:bodyPr wrap="square">
            <a:spAutoFit/>
          </a:bodyPr>
          <a:lstStyle/>
          <a:p>
            <a:r>
              <a:rPr lang="en-IN" sz="2400" dirty="0"/>
              <a:t>EXTRA TREES – POROSITY</a:t>
            </a:r>
          </a:p>
          <a:p>
            <a:r>
              <a:rPr lang="en-IN" sz="2400" dirty="0"/>
              <a:t>R²  : 0.9543</a:t>
            </a:r>
          </a:p>
          <a:p>
            <a:r>
              <a:rPr lang="en-IN" sz="2400" dirty="0"/>
              <a:t>MAE : 0.2757 %</a:t>
            </a:r>
          </a:p>
          <a:p>
            <a:endParaRPr lang="en-IN" sz="2400" dirty="0"/>
          </a:p>
          <a:p>
            <a:r>
              <a:rPr lang="en-IN" sz="2400" dirty="0"/>
              <a:t>RANDOM FOREST – UTS</a:t>
            </a:r>
          </a:p>
          <a:p>
            <a:r>
              <a:rPr lang="pt-BR" sz="2400" dirty="0"/>
              <a:t>R²  : 0.9532</a:t>
            </a:r>
          </a:p>
          <a:p>
            <a:r>
              <a:rPr lang="pt-BR" sz="2400" dirty="0"/>
              <a:t>MAE : 7.1925 MPa</a:t>
            </a:r>
            <a:endParaRPr lang="en-IN" sz="2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386625" y="1357505"/>
            <a:ext cx="10624338" cy="4142989"/>
          </a:xfrm>
        </p:spPr>
        <p:txBody>
          <a:bodyPr/>
          <a:lstStyle/>
          <a:p>
            <a:r>
              <a:rPr lang="en-IN" sz="2400" b="0" dirty="0"/>
              <a:t>The proposed framework combines ML, </a:t>
            </a:r>
            <a:r>
              <a:rPr lang="en-IN" sz="2400" b="0" dirty="0" err="1"/>
              <a:t>GraphRAG</a:t>
            </a:r>
            <a:r>
              <a:rPr lang="en-IN" sz="2400" b="0" dirty="0"/>
              <a:t>, and multi-objective optimization to enable accurate, explainable, and optimized AlSi10Mg LPBF process parameter selection.</a:t>
            </a:r>
            <a:endParaRPr lang="en-IN" sz="2400" b="0" dirty="0">
              <a:solidFill>
                <a:srgbClr val="5583D1"/>
              </a:solidFill>
            </a:endParaRPr>
          </a:p>
          <a:p>
            <a:r>
              <a:rPr lang="en-IN" sz="2400" b="0" dirty="0">
                <a:latin typeface="+mn-lt"/>
              </a:rPr>
              <a:t>The ML models predict key manufacturing outcomes such as porosity and tensile strength using process and derived features including VED, MED, PV, and geometry-related parameters. The Knowledge Graph and </a:t>
            </a:r>
            <a:r>
              <a:rPr lang="en-IN" sz="2400" b="0" dirty="0" err="1">
                <a:latin typeface="+mn-lt"/>
              </a:rPr>
              <a:t>GraphRAG</a:t>
            </a:r>
            <a:r>
              <a:rPr lang="en-IN" sz="2400" b="0" dirty="0">
                <a:latin typeface="+mn-lt"/>
              </a:rPr>
              <a:t> components provide context-aware and explainable recommendations, while </a:t>
            </a:r>
            <a:r>
              <a:rPr lang="en-IN" sz="2400" b="0" dirty="0" err="1">
                <a:latin typeface="+mn-lt"/>
              </a:rPr>
              <a:t>Optuna</a:t>
            </a:r>
            <a:r>
              <a:rPr lang="en-IN" sz="2400" b="0" dirty="0">
                <a:latin typeface="+mn-lt"/>
              </a:rPr>
              <a:t> identifies process parameters that simultaneously minimize porosity and maximize tensile strength.</a:t>
            </a:r>
          </a:p>
          <a:p>
            <a:r>
              <a:rPr lang="en-IN" sz="2400" b="0" dirty="0">
                <a:latin typeface="+mn-lt"/>
              </a:rPr>
              <a:t>Overall, the framework provides a data-driven, explainable, and optimization-oriented approach for improving LPBF process quality and supporting intelligent manufacturing decisions.</a:t>
            </a:r>
          </a:p>
          <a:p>
            <a:pPr marL="0" indent="0">
              <a:buNone/>
            </a:pPr>
            <a:endParaRPr lang="en-US" sz="2400" b="0" dirty="0">
              <a:solidFill>
                <a:srgbClr val="5583D1"/>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357505"/>
            <a:ext cx="10624338" cy="4142989"/>
          </a:xfrm>
        </p:spPr>
        <p:txBody>
          <a:bodyPr/>
          <a:lstStyle/>
          <a:p>
            <a:pPr marL="0" indent="0">
              <a:buNone/>
            </a:pPr>
            <a:r>
              <a:rPr lang="en-IN" sz="2400" b="0" dirty="0">
                <a:latin typeface="+mn-lt"/>
              </a:rPr>
              <a:t>I would like to express my sincere gratitude to my project guide, Dr. Ganesa Ramachandran Arunachalam, for his valuable guidance, continuous support, and constructive feedback throughout the development of this project. His expertise, encouragement, and suggestions were instrumental in successfully completing this work.</a:t>
            </a:r>
          </a:p>
          <a:p>
            <a:pPr marL="0" indent="0">
              <a:buNone/>
            </a:pPr>
            <a:endParaRPr lang="en-IN" sz="2400" b="0" dirty="0">
              <a:solidFill>
                <a:srgbClr val="5583D1"/>
              </a:solidFill>
              <a:latin typeface="+mn-lt"/>
            </a:endParaRPr>
          </a:p>
          <a:p>
            <a:pPr marL="0" indent="0">
              <a:buNone/>
            </a:pPr>
            <a:r>
              <a:rPr lang="en-IN" sz="2400" b="0" dirty="0">
                <a:latin typeface="+mn-lt"/>
              </a:rPr>
              <a:t>I would also like to extend my sincere thanks to the faculty members and staff of Vellore Institute of Technology (VIT), Chennai, for providing the necessary facilities, resources, and academic support required to carry out this project.</a:t>
            </a:r>
          </a:p>
          <a:p>
            <a:pPr marL="0" indent="0">
              <a:buNone/>
            </a:pPr>
            <a:endParaRPr lang="en-US" sz="2400" b="0" dirty="0">
              <a:solidFill>
                <a:srgbClr val="5583D1"/>
              </a:solidFill>
              <a:latin typeface="+mn-lt"/>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Acknowledgement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r>
              <a:rPr lang="en-IN" sz="2400" b="0" dirty="0" err="1">
                <a:latin typeface="+mn-lt"/>
              </a:rPr>
              <a:t>DebRoy</a:t>
            </a:r>
            <a:r>
              <a:rPr lang="en-IN" sz="2400" b="0" dirty="0">
                <a:latin typeface="+mn-lt"/>
              </a:rPr>
              <a:t>, T., Wei, H. L., Zuback, J. S., et al. (2018). Additive manufacturing of metallic components – Process, structure and properties. </a:t>
            </a:r>
            <a:r>
              <a:rPr lang="en-IN" sz="2400" b="0" i="1" dirty="0">
                <a:latin typeface="+mn-lt"/>
              </a:rPr>
              <a:t>Progress in Materials Science</a:t>
            </a:r>
            <a:r>
              <a:rPr lang="en-IN" sz="2400" b="0" dirty="0">
                <a:latin typeface="+mn-lt"/>
              </a:rPr>
              <a:t>, 92, 112–224.</a:t>
            </a:r>
          </a:p>
          <a:p>
            <a:pPr marL="0" indent="0">
              <a:buNone/>
            </a:pPr>
            <a:endParaRPr lang="en-IN" sz="2400" b="0" dirty="0">
              <a:solidFill>
                <a:srgbClr val="5583D1"/>
              </a:solidFill>
              <a:latin typeface="+mn-lt"/>
            </a:endParaRPr>
          </a:p>
          <a:p>
            <a:pPr lvl="0"/>
            <a:r>
              <a:rPr lang="en-IN" sz="2400" b="0" dirty="0">
                <a:latin typeface="+mn-lt"/>
              </a:rPr>
              <a:t>Neo4j. Neo4j Graph Database and </a:t>
            </a:r>
            <a:r>
              <a:rPr lang="en-IN" sz="2400" b="0" dirty="0" err="1">
                <a:latin typeface="+mn-lt"/>
              </a:rPr>
              <a:t>GraphRAG</a:t>
            </a:r>
            <a:r>
              <a:rPr lang="en-IN" sz="2400" b="0" dirty="0">
                <a:latin typeface="+mn-lt"/>
              </a:rPr>
              <a:t> Documentation.</a:t>
            </a:r>
          </a:p>
          <a:p>
            <a:pPr marL="0" lvl="0" indent="0">
              <a:buNone/>
            </a:pPr>
            <a:endParaRPr lang="en-IN" sz="2400" b="0" dirty="0">
              <a:latin typeface="+mn-lt"/>
            </a:endParaRPr>
          </a:p>
          <a:p>
            <a:pPr lvl="0"/>
            <a:r>
              <a:rPr lang="en-IN" sz="2400" b="0" dirty="0">
                <a:latin typeface="+mn-lt"/>
              </a:rPr>
              <a:t>Scikit-learn Documentation. Machine learning algorithms and model evaluation.</a:t>
            </a:r>
          </a:p>
          <a:p>
            <a:pPr marL="0" lvl="0" indent="0">
              <a:buNone/>
            </a:pPr>
            <a:endParaRPr lang="en-IN" sz="2400" b="0" dirty="0">
              <a:latin typeface="+mn-lt"/>
            </a:endParaRPr>
          </a:p>
          <a:p>
            <a:pPr lvl="0"/>
            <a:r>
              <a:rPr lang="en-IN" sz="2400" b="0" dirty="0" err="1">
                <a:latin typeface="+mn-lt"/>
              </a:rPr>
              <a:t>Optuna</a:t>
            </a:r>
            <a:r>
              <a:rPr lang="en-IN" sz="2400" b="0" dirty="0">
                <a:latin typeface="+mn-lt"/>
              </a:rPr>
              <a:t> Documentation. Hyperparameter and multi-objective optimization framework.</a:t>
            </a:r>
          </a:p>
          <a:p>
            <a:pPr marL="0" indent="0">
              <a:buNone/>
            </a:pPr>
            <a:endParaRPr lang="en-US" sz="2400" b="0" dirty="0">
              <a:solidFill>
                <a:srgbClr val="5583D1"/>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1269" y="4472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p:cNvSpPr>
            <a:spLocks noGrp="1"/>
          </p:cNvSpPr>
          <p:nvPr>
            <p:ph type="body" sz="quarter" idx="13"/>
          </p:nvPr>
        </p:nvSpPr>
        <p:spPr>
          <a:xfrm>
            <a:off x="2289635" y="17705"/>
            <a:ext cx="6910121" cy="1058125"/>
          </a:xfrm>
        </p:spPr>
        <p:txBody>
          <a:bodyPr/>
          <a:lstStyle/>
          <a:p>
            <a:pPr marL="0" indent="0" algn="ctr">
              <a:buNone/>
            </a:pPr>
            <a:r>
              <a:rPr lang="en-US" sz="4400" dirty="0" err="1">
                <a:solidFill>
                  <a:schemeClr val="bg1"/>
                </a:solidFill>
              </a:rPr>
              <a:t>M.Tech</a:t>
            </a:r>
            <a:r>
              <a:rPr lang="en-US" sz="4400" dirty="0">
                <a:solidFill>
                  <a:schemeClr val="bg1"/>
                </a:solidFill>
              </a:rPr>
              <a:t> Program </a:t>
            </a:r>
          </a:p>
          <a:p>
            <a:pPr marL="0" indent="0" algn="ctr">
              <a:buNone/>
            </a:pPr>
            <a:r>
              <a:rPr lang="en-US" sz="2000" dirty="0">
                <a:solidFill>
                  <a:schemeClr val="bg1"/>
                </a:solidFill>
              </a:rPr>
              <a:t>Advanced Industry Integrated Programs</a:t>
            </a:r>
          </a:p>
        </p:txBody>
      </p:sp>
      <p:cxnSp>
        <p:nvCxnSpPr>
          <p:cNvPr id="15" name="Straight Connector 14"/>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p:cNvSpPr txBox="1"/>
          <p:nvPr/>
        </p:nvSpPr>
        <p:spPr>
          <a:xfrm>
            <a:off x="180236" y="1659822"/>
            <a:ext cx="11428184" cy="489364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3600" b="1" dirty="0">
                <a:solidFill>
                  <a:prstClr val="white"/>
                </a:solidFill>
                <a:cs typeface="Calibri" panose="020F0502020204030204" pitchFamily="34" charset="0"/>
              </a:rPr>
              <a:t>Review III</a:t>
            </a:r>
          </a:p>
          <a:p>
            <a:pPr algn="ctr">
              <a:defRPr/>
            </a:pPr>
            <a:r>
              <a:rPr lang="en-US" sz="3600" dirty="0" err="1">
                <a:cs typeface="Times New Roman" panose="02020603050405020304" pitchFamily="18" charset="0"/>
              </a:rPr>
              <a:t>MacroStress</a:t>
            </a:r>
            <a:r>
              <a:rPr lang="en-US" sz="3600" dirty="0">
                <a:cs typeface="Times New Roman" panose="02020603050405020304" pitchFamily="18" charset="0"/>
              </a:rPr>
              <a:t> - GAN: Multi-Agent GenAI Framework for Indian Financial Market</a:t>
            </a:r>
            <a:endParaRPr lang="en-US" sz="3600" b="1" dirty="0">
              <a:solidFill>
                <a:prstClr val="white"/>
              </a:solidFill>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endParaRPr lang="en-US" sz="3600" b="1" dirty="0">
              <a:solidFill>
                <a:prstClr val="white"/>
              </a:solidFill>
              <a:cs typeface="Calibri" panose="020F0502020204030204" pitchFamily="34" charset="0"/>
            </a:endParaRPr>
          </a:p>
          <a:p>
            <a:pPr lvl="0" algn="ctr">
              <a:defRPr/>
            </a:pPr>
            <a:endParaRPr lang="en-US" sz="3600" b="1" dirty="0">
              <a:solidFill>
                <a:prstClr val="white"/>
              </a:solidFill>
              <a:cs typeface="Calibri" panose="020F0502020204030204" pitchFamily="34" charset="0"/>
            </a:endParaRPr>
          </a:p>
          <a:p>
            <a:pPr lvl="0" algn="ctr">
              <a:defRPr/>
            </a:pPr>
            <a:r>
              <a:rPr lang="en-US" sz="2400" b="1" dirty="0">
                <a:solidFill>
                  <a:prstClr val="white"/>
                </a:solidFill>
                <a:cs typeface="Calibri" panose="020F0502020204030204" pitchFamily="34" charset="0"/>
              </a:rPr>
              <a:t>BY ALINA NASIR AGA</a:t>
            </a:r>
            <a:endParaRPr kumimoji="0" lang="en-US" sz="2400" b="1" i="0" u="none" strike="noStrike" kern="1200" cap="none" spc="0" normalizeH="0" baseline="0" noProof="0" dirty="0">
              <a:ln>
                <a:noFill/>
              </a:ln>
              <a:solidFill>
                <a:prstClr val="white"/>
              </a:solidFill>
              <a:effectLst/>
              <a:uLnTx/>
              <a:uFillTx/>
              <a:ea typeface="+mn-ea"/>
              <a:cs typeface="Calibri" panose="020F0502020204030204" pitchFamily="34" charset="0"/>
            </a:endParaRP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967715440"/>
              </p:ext>
            </p:extLst>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20000"/>
                    </a:ext>
                  </a:extLst>
                </a:gridCol>
                <a:gridCol w="6119608">
                  <a:extLst>
                    <a:ext uri="{9D8B030D-6E8A-4147-A177-3AD203B41FA5}">
                      <a16:colId xmlns:a16="http://schemas.microsoft.com/office/drawing/2014/main" val="20001"/>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pic>
        <p:nvPicPr>
          <p:cNvPr id="8" name="Picture 7"/>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marL="0" lvl="0" indent="0">
              <a:buNone/>
            </a:pPr>
            <a:r>
              <a:rPr lang="en-US" sz="2400" b="0" dirty="0">
                <a:latin typeface="+mn-lt"/>
                <a:cs typeface="Times New Roman" panose="02020603050405020304" pitchFamily="18" charset="0"/>
              </a:rPr>
              <a:t>Financial institutions perform stress testing manually by creating crisis scenarios, simulating outcomes, and calculating portfolio risk.</a:t>
            </a:r>
          </a:p>
          <a:p>
            <a:pPr marL="0" lvl="0" indent="0">
              <a:buNone/>
            </a:pPr>
            <a:endParaRPr lang="en-US" sz="2400" b="0" dirty="0">
              <a:latin typeface="+mn-lt"/>
              <a:cs typeface="Times New Roman" panose="02020603050405020304" pitchFamily="18" charset="0"/>
            </a:endParaRPr>
          </a:p>
          <a:p>
            <a:pPr marL="0" lvl="0" indent="0">
              <a:buNone/>
            </a:pPr>
            <a:r>
              <a:rPr lang="en-US" sz="2400" b="0" dirty="0">
                <a:latin typeface="+mn-lt"/>
                <a:cs typeface="Times New Roman" panose="02020603050405020304" pitchFamily="18" charset="0"/>
              </a:rPr>
              <a:t>Challenges:</a:t>
            </a:r>
          </a:p>
          <a:p>
            <a:pPr marL="0" lvl="0" indent="0">
              <a:buNone/>
            </a:pPr>
            <a:endParaRPr lang="en-US" sz="2400" b="0" dirty="0">
              <a:latin typeface="+mn-lt"/>
              <a:cs typeface="Times New Roman" panose="02020603050405020304" pitchFamily="18" charset="0"/>
            </a:endParaRPr>
          </a:p>
          <a:p>
            <a:r>
              <a:rPr lang="en-US" sz="2400" b="0" dirty="0">
                <a:latin typeface="+mn-lt"/>
                <a:cs typeface="Times New Roman" panose="02020603050405020304" pitchFamily="18" charset="0"/>
              </a:rPr>
              <a:t>Time consuming</a:t>
            </a:r>
          </a:p>
          <a:p>
            <a:pPr marL="0" indent="0">
              <a:buNone/>
            </a:pPr>
            <a:endParaRPr lang="en-US" sz="2400" b="0" dirty="0">
              <a:latin typeface="+mn-lt"/>
              <a:cs typeface="Times New Roman" panose="02020603050405020304" pitchFamily="18" charset="0"/>
            </a:endParaRPr>
          </a:p>
          <a:p>
            <a:r>
              <a:rPr lang="en-US" sz="2400" b="0" dirty="0">
                <a:latin typeface="+mn-lt"/>
                <a:cs typeface="Times New Roman" panose="02020603050405020304" pitchFamily="18" charset="0"/>
              </a:rPr>
              <a:t>Difficult to test multiple crisis events</a:t>
            </a:r>
          </a:p>
          <a:p>
            <a:pPr marL="0" indent="0">
              <a:buNone/>
            </a:pPr>
            <a:endParaRPr lang="en-US" sz="2400" b="0" dirty="0">
              <a:latin typeface="+mn-lt"/>
              <a:cs typeface="Times New Roman" panose="02020603050405020304" pitchFamily="18" charset="0"/>
            </a:endParaRPr>
          </a:p>
          <a:p>
            <a:r>
              <a:rPr lang="en-US" sz="2400" b="0" dirty="0">
                <a:latin typeface="+mn-lt"/>
                <a:cs typeface="Times New Roman" panose="02020603050405020304" pitchFamily="18" charset="0"/>
              </a:rPr>
              <a:t>Limited scalability and automation</a:t>
            </a:r>
          </a:p>
          <a:p>
            <a:pPr marL="0" indent="0">
              <a:lnSpc>
                <a:spcPct val="150000"/>
              </a:lnSpc>
              <a:buNone/>
            </a:pPr>
            <a:endParaRPr lang="en-US" sz="2400" b="0" dirty="0">
              <a:solidFill>
                <a:srgbClr val="5583D1"/>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err="1">
                <a:ln>
                  <a:noFill/>
                </a:ln>
                <a:solidFill>
                  <a:srgbClr val="5B9BD5">
                    <a:lumMod val="50000"/>
                  </a:srgbClr>
                </a:solidFill>
                <a:effectLst/>
                <a:uLnTx/>
                <a:uFillTx/>
                <a:latin typeface="Calibri" panose="020F0502020204030204"/>
                <a:ea typeface="+mn-ea"/>
                <a:cs typeface="+mn-cs"/>
              </a:rPr>
              <a:t>Introductio</a:t>
            </a:r>
            <a:r>
              <a:rPr lang="en-US" sz="3600" b="1" dirty="0">
                <a:solidFill>
                  <a:srgbClr val="5B9BD5">
                    <a:lumMod val="50000"/>
                  </a:srgbClr>
                </a:solidFill>
                <a:latin typeface="Calibri" panose="020F0502020204030204"/>
              </a:rPr>
              <a:t>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r>
              <a:rPr lang="en-GB" sz="2400" b="0" dirty="0">
                <a:latin typeface="+mn-lt"/>
                <a:cs typeface="Times New Roman" panose="02020603050405020304" pitchFamily="18" charset="0"/>
              </a:rPr>
              <a:t>Understand crisis scenarios using Llama LLM.</a:t>
            </a:r>
          </a:p>
          <a:p>
            <a:r>
              <a:rPr lang="en-GB" sz="2400" b="0" dirty="0">
                <a:latin typeface="+mn-lt"/>
                <a:cs typeface="Times New Roman" panose="02020603050405020304" pitchFamily="18" charset="0"/>
              </a:rPr>
              <a:t>Analyze historical market data.</a:t>
            </a:r>
          </a:p>
          <a:p>
            <a:r>
              <a:rPr lang="en-GB" sz="2400" b="0" dirty="0">
                <a:latin typeface="+mn-lt"/>
                <a:cs typeface="Times New Roman" panose="02020603050405020304" pitchFamily="18" charset="0"/>
              </a:rPr>
              <a:t>Generate stress scenarios using TimeGAN.</a:t>
            </a:r>
          </a:p>
          <a:p>
            <a:r>
              <a:rPr lang="en-GB" sz="2400" b="0" dirty="0">
                <a:latin typeface="+mn-lt"/>
                <a:cs typeface="Times New Roman" panose="02020603050405020304" pitchFamily="18" charset="0"/>
              </a:rPr>
              <a:t>Calculate VaR, ES,  Expected loss, MDD.</a:t>
            </a:r>
          </a:p>
          <a:p>
            <a:r>
              <a:rPr lang="en-GB" sz="2400" b="0" dirty="0">
                <a:latin typeface="+mn-lt"/>
                <a:cs typeface="Times New Roman" panose="02020603050405020304" pitchFamily="18" charset="0"/>
              </a:rPr>
              <a:t>Use a multi-agent AI framework.</a:t>
            </a:r>
          </a:p>
          <a:p>
            <a:r>
              <a:rPr lang="en-GB" sz="2400" b="0" dirty="0">
                <a:latin typeface="+mn-lt"/>
                <a:cs typeface="Times New Roman" panose="02020603050405020304" pitchFamily="18" charset="0"/>
              </a:rPr>
              <a:t>Generate explainable risk reports.</a:t>
            </a:r>
            <a:endParaRPr lang="en-IN" sz="2400" b="0" dirty="0">
              <a:latin typeface="+mn-lt"/>
              <a:cs typeface="Times New Roman" panose="02020603050405020304" pitchFamily="18" charset="0"/>
            </a:endParaRPr>
          </a:p>
          <a:p>
            <a:pPr marL="0" indent="0">
              <a:lnSpc>
                <a:spcPct val="150000"/>
              </a:lnSpc>
              <a:buNone/>
            </a:pPr>
            <a:endParaRPr lang="en-US" sz="2400" b="0" dirty="0">
              <a:solidFill>
                <a:srgbClr val="5583D1"/>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pPr marL="0" indent="0">
              <a:buNone/>
            </a:pPr>
            <a:r>
              <a:rPr lang="en-US" dirty="0">
                <a:solidFill>
                  <a:srgbClr val="5583D1"/>
                </a:solidFill>
                <a:latin typeface="+mn-lt"/>
              </a:rPr>
              <a:t>Subtopic</a:t>
            </a:r>
          </a:p>
          <a:p>
            <a:r>
              <a:rPr lang="en-IN" sz="2400" b="0" dirty="0">
                <a:latin typeface="+mn-lt"/>
              </a:rPr>
              <a:t>Data Collection &amp; Preprocessing </a:t>
            </a:r>
          </a:p>
          <a:p>
            <a:r>
              <a:rPr lang="en-IN" sz="2400" b="0" dirty="0">
                <a:latin typeface="+mn-lt"/>
              </a:rPr>
              <a:t>Exploratory Data Analysis </a:t>
            </a:r>
          </a:p>
          <a:p>
            <a:r>
              <a:rPr lang="en-IN" sz="2400" b="0" dirty="0">
                <a:latin typeface="+mn-lt"/>
              </a:rPr>
              <a:t>Synthetic Data Generation </a:t>
            </a:r>
          </a:p>
          <a:p>
            <a:r>
              <a:rPr lang="en-IN" sz="2400" b="0" dirty="0">
                <a:latin typeface="+mn-lt"/>
              </a:rPr>
              <a:t>Stress Scenario Generation </a:t>
            </a:r>
          </a:p>
          <a:p>
            <a:r>
              <a:rPr lang="en-IN" sz="2400" b="0" dirty="0">
                <a:latin typeface="+mn-lt"/>
              </a:rPr>
              <a:t>Financial Risk Analysis </a:t>
            </a:r>
          </a:p>
          <a:p>
            <a:r>
              <a:rPr lang="en-IN" sz="2400" b="0" dirty="0">
                <a:latin typeface="+mn-lt"/>
              </a:rPr>
              <a:t>Multi-Agent Analysis </a:t>
            </a:r>
          </a:p>
          <a:p>
            <a:r>
              <a:rPr lang="en-IN" sz="2400" b="0" dirty="0">
                <a:latin typeface="+mn-lt"/>
              </a:rPr>
              <a:t>Visualization &amp; Report Generation</a:t>
            </a:r>
          </a:p>
          <a:p>
            <a:pPr marL="0" indent="0">
              <a:buNone/>
            </a:pPr>
            <a:endParaRPr lang="en-US" sz="2400" b="0" i="0" dirty="0">
              <a:solidFill>
                <a:srgbClr val="242424"/>
              </a:solidFill>
              <a:effectLst/>
              <a:highlight>
                <a:srgbClr val="FFFFFF"/>
              </a:highlight>
              <a:latin typeface="source-serif-pro"/>
            </a:endParaRPr>
          </a:p>
          <a:p>
            <a:pPr lvl="1"/>
            <a:endParaRPr lang="en-US" dirty="0">
              <a:solidFill>
                <a:srgbClr val="1C3898"/>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093893" y="57036"/>
            <a:ext cx="6098107" cy="646331"/>
          </a:xfrm>
          <a:prstGeom prst="rect">
            <a:avLst/>
          </a:prstGeom>
          <a:noFill/>
        </p:spPr>
        <p:txBody>
          <a:bodyPr wrap="square" rtlCol="0">
            <a:spAutoFit/>
          </a:bodyPr>
          <a:lstStyle/>
          <a:p>
            <a:pPr algn="r"/>
            <a:endParaRPr lang="en-US" b="1" i="1" dirty="0">
              <a:solidFill>
                <a:srgbClr val="FFFFFF"/>
              </a:solidFill>
            </a:endParaRPr>
          </a:p>
          <a:p>
            <a:pPr algn="r"/>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marL="0" indent="0">
              <a:buNone/>
            </a:pPr>
            <a:endParaRPr lang="en-IN" sz="2400" b="0" dirty="0">
              <a:latin typeface="+mn-lt"/>
            </a:endParaRPr>
          </a:p>
          <a:p>
            <a:pPr marL="0" indent="0">
              <a:buNone/>
            </a:pPr>
            <a:r>
              <a:rPr lang="en-IN" sz="2400" b="0" dirty="0">
                <a:latin typeface="+mn-lt"/>
              </a:rPr>
              <a:t>To develop a Multi-Agent Generative AI framework that generates realistic macroeconomic stress scenarios, quantifies portfolio risk, optimizes asset allocation, and independently validates financial resilience under extreme market conditions</a:t>
            </a:r>
            <a:endParaRPr lang="en-US" sz="2400" b="0" dirty="0">
              <a:solidFill>
                <a:srgbClr val="5583D1"/>
              </a:solidFill>
              <a:latin typeface="+mn-lt"/>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marL="0" indent="0">
              <a:lnSpc>
                <a:spcPct val="150000"/>
              </a:lnSpc>
              <a:buNone/>
            </a:pPr>
            <a:endParaRPr lang="en-US" sz="2400" b="0" dirty="0">
              <a:solidFill>
                <a:srgbClr val="5583D1"/>
              </a:solidFill>
            </a:endParaRPr>
          </a:p>
        </p:txBody>
      </p:sp>
      <p:sp>
        <p:nvSpPr>
          <p:cNvPr id="3" name="TextBox 2"/>
          <p:cNvSpPr txBox="1"/>
          <p:nvPr/>
        </p:nvSpPr>
        <p:spPr>
          <a:xfrm>
            <a:off x="255996" y="213561"/>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pic>
        <p:nvPicPr>
          <p:cNvPr id="7" name="Picture 6">
            <a:extLst>
              <a:ext uri="{FF2B5EF4-FFF2-40B4-BE49-F238E27FC236}">
                <a16:creationId xmlns:a16="http://schemas.microsoft.com/office/drawing/2014/main" id="{8F4536D6-BC37-AC7F-C516-AC56C5A0B2DC}"/>
              </a:ext>
            </a:extLst>
          </p:cNvPr>
          <p:cNvPicPr>
            <a:picLocks noChangeAspect="1"/>
          </p:cNvPicPr>
          <p:nvPr/>
        </p:nvPicPr>
        <p:blipFill>
          <a:blip r:embed="rId2"/>
          <a:stretch>
            <a:fillRect/>
          </a:stretch>
        </p:blipFill>
        <p:spPr>
          <a:xfrm>
            <a:off x="221274" y="903971"/>
            <a:ext cx="10961388" cy="468280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514662" y="1314351"/>
            <a:ext cx="10624338" cy="4142989"/>
          </a:xfrm>
        </p:spPr>
        <p:txBody>
          <a:bodyPr/>
          <a:lstStyle/>
          <a:p>
            <a:pPr marL="0" indent="0">
              <a:lnSpc>
                <a:spcPct val="150000"/>
              </a:lnSpc>
              <a:buNone/>
            </a:pPr>
            <a:endParaRPr lang="en-US" sz="2400" b="0" dirty="0">
              <a:solidFill>
                <a:srgbClr val="5583D1"/>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55996" y="1113529"/>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pic>
        <p:nvPicPr>
          <p:cNvPr id="7" name="Picture 6">
            <a:extLst>
              <a:ext uri="{FF2B5EF4-FFF2-40B4-BE49-F238E27FC236}">
                <a16:creationId xmlns:a16="http://schemas.microsoft.com/office/drawing/2014/main" id="{74F2C3B1-B85E-6B46-34DA-DB7497BF6C39}"/>
              </a:ext>
            </a:extLst>
          </p:cNvPr>
          <p:cNvPicPr>
            <a:picLocks noChangeAspect="1"/>
          </p:cNvPicPr>
          <p:nvPr/>
        </p:nvPicPr>
        <p:blipFill>
          <a:blip r:embed="rId2"/>
          <a:stretch>
            <a:fillRect/>
          </a:stretch>
        </p:blipFill>
        <p:spPr>
          <a:xfrm>
            <a:off x="389744" y="1251545"/>
            <a:ext cx="11622374" cy="435490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578D9-302C-B9A8-A895-87F5ACAD898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B5825F7-1206-539F-2C6E-F805DA92401D}"/>
              </a:ext>
            </a:extLst>
          </p:cNvPr>
          <p:cNvSpPr>
            <a:spLocks noGrp="1"/>
          </p:cNvSpPr>
          <p:nvPr>
            <p:ph type="body" sz="quarter" idx="13"/>
          </p:nvPr>
        </p:nvSpPr>
        <p:spPr>
          <a:xfrm>
            <a:off x="255996" y="1271219"/>
            <a:ext cx="10624338" cy="4142989"/>
          </a:xfrm>
        </p:spPr>
        <p:txBody>
          <a:bodyPr/>
          <a:lstStyle/>
          <a:p>
            <a:pPr marL="0" indent="0">
              <a:lnSpc>
                <a:spcPct val="150000"/>
              </a:lnSpc>
              <a:buNone/>
            </a:pPr>
            <a:r>
              <a:rPr lang="en-US" sz="2400" b="0" dirty="0">
                <a:solidFill>
                  <a:srgbClr val="5583D1"/>
                </a:solidFill>
                <a:latin typeface="+mn-lt"/>
              </a:rPr>
              <a:t>Tools</a:t>
            </a:r>
          </a:p>
          <a:p>
            <a:r>
              <a:rPr lang="en-IN" sz="2400" b="0" dirty="0">
                <a:latin typeface="+mn-lt"/>
              </a:rPr>
              <a:t>Programming – Python</a:t>
            </a:r>
          </a:p>
          <a:p>
            <a:r>
              <a:rPr lang="en-IN" sz="2400" b="0" dirty="0">
                <a:latin typeface="+mn-lt"/>
              </a:rPr>
              <a:t>Generative AI - </a:t>
            </a:r>
            <a:r>
              <a:rPr lang="en-IN" sz="2400" b="0" dirty="0" err="1">
                <a:latin typeface="+mn-lt"/>
              </a:rPr>
              <a:t>TimeGAN</a:t>
            </a:r>
            <a:r>
              <a:rPr lang="en-IN" sz="2400" b="0" dirty="0">
                <a:latin typeface="+mn-lt"/>
              </a:rPr>
              <a:t>, Llama 3.1 8B</a:t>
            </a:r>
          </a:p>
          <a:p>
            <a:r>
              <a:rPr lang="en-IN" sz="2400" b="0" dirty="0">
                <a:latin typeface="+mn-lt"/>
              </a:rPr>
              <a:t>Agent Framework – </a:t>
            </a:r>
            <a:r>
              <a:rPr lang="en-IN" sz="2400" b="0" dirty="0" err="1">
                <a:latin typeface="+mn-lt"/>
              </a:rPr>
              <a:t>LangGraph</a:t>
            </a:r>
            <a:endParaRPr lang="en-IN" sz="2400" b="0" dirty="0">
              <a:latin typeface="+mn-lt"/>
            </a:endParaRPr>
          </a:p>
          <a:p>
            <a:r>
              <a:rPr lang="en-IN" sz="2400" b="0" dirty="0">
                <a:latin typeface="+mn-lt"/>
              </a:rPr>
              <a:t>Database – PostgreSQL</a:t>
            </a:r>
          </a:p>
          <a:p>
            <a:r>
              <a:rPr lang="en-IN" sz="2400" b="0" dirty="0">
                <a:latin typeface="+mn-lt"/>
              </a:rPr>
              <a:t>Backend – </a:t>
            </a:r>
            <a:r>
              <a:rPr lang="en-IN" sz="2400" b="0" dirty="0" err="1">
                <a:latin typeface="+mn-lt"/>
              </a:rPr>
              <a:t>FastAPI</a:t>
            </a:r>
            <a:endParaRPr lang="en-IN" sz="2400" b="0" dirty="0">
              <a:latin typeface="+mn-lt"/>
            </a:endParaRPr>
          </a:p>
          <a:p>
            <a:r>
              <a:rPr lang="en-IN" sz="2400" b="0" dirty="0">
                <a:latin typeface="+mn-lt"/>
              </a:rPr>
              <a:t>Dashboard - </a:t>
            </a:r>
            <a:r>
              <a:rPr lang="en-IN" sz="2400" b="0" dirty="0" err="1">
                <a:latin typeface="+mn-lt"/>
              </a:rPr>
              <a:t>Streamlit</a:t>
            </a:r>
            <a:endParaRPr lang="en-US" sz="2400" b="0" dirty="0">
              <a:solidFill>
                <a:srgbClr val="5583D1"/>
              </a:solidFill>
              <a:latin typeface="+mn-lt"/>
            </a:endParaRPr>
          </a:p>
        </p:txBody>
      </p:sp>
      <p:sp>
        <p:nvSpPr>
          <p:cNvPr id="3" name="TextBox 2">
            <a:extLst>
              <a:ext uri="{FF2B5EF4-FFF2-40B4-BE49-F238E27FC236}">
                <a16:creationId xmlns:a16="http://schemas.microsoft.com/office/drawing/2014/main" id="{7090D251-0FBA-DF6A-3D2F-A6755F0E9B3F}"/>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526213A-9599-B7FF-E6DA-24CDB4803F6F}"/>
              </a:ext>
            </a:extLst>
          </p:cNvPr>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3774236-7ED6-989F-E9B6-5B66136C18F1}"/>
              </a:ext>
            </a:extLst>
          </p:cNvPr>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414747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marL="0" indent="0">
              <a:lnSpc>
                <a:spcPct val="150000"/>
              </a:lnSpc>
              <a:buNone/>
            </a:pPr>
            <a:endParaRPr lang="en-US" sz="2400" b="0" dirty="0">
              <a:solidFill>
                <a:srgbClr val="5583D1"/>
              </a:solidFill>
              <a:latin typeface="+mn-lt"/>
            </a:endParaRPr>
          </a:p>
          <a:p>
            <a:pPr marL="0" indent="0">
              <a:lnSpc>
                <a:spcPct val="150000"/>
              </a:lnSpc>
              <a:buNone/>
            </a:pPr>
            <a:endParaRPr lang="en-US" sz="2400" b="0" dirty="0">
              <a:solidFill>
                <a:srgbClr val="5583D1"/>
              </a:solidFill>
              <a:latin typeface="+mn-lt"/>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
        <p:nvSpPr>
          <p:cNvPr id="8" name="TextBox 7">
            <a:extLst>
              <a:ext uri="{FF2B5EF4-FFF2-40B4-BE49-F238E27FC236}">
                <a16:creationId xmlns:a16="http://schemas.microsoft.com/office/drawing/2014/main" id="{1FE96F9A-6BD7-9594-35A4-6E6579D943BF}"/>
              </a:ext>
            </a:extLst>
          </p:cNvPr>
          <p:cNvSpPr txBox="1"/>
          <p:nvPr/>
        </p:nvSpPr>
        <p:spPr>
          <a:xfrm>
            <a:off x="255995" y="1443792"/>
            <a:ext cx="7898653" cy="3416320"/>
          </a:xfrm>
          <a:prstGeom prst="rect">
            <a:avLst/>
          </a:prstGeom>
          <a:noFill/>
        </p:spPr>
        <p:txBody>
          <a:bodyPr wrap="square">
            <a:spAutoFit/>
          </a:bodyPr>
          <a:lstStyle/>
          <a:p>
            <a:r>
              <a:rPr lang="en-IN" sz="2400" dirty="0"/>
              <a:t>TIMEGAN EVALUATION</a:t>
            </a:r>
          </a:p>
          <a:p>
            <a:endParaRPr lang="en-IN" sz="2400" dirty="0"/>
          </a:p>
          <a:p>
            <a:r>
              <a:rPr lang="en-IN" sz="2400" dirty="0"/>
              <a:t>Discriminative Score   : 0.4250</a:t>
            </a:r>
          </a:p>
          <a:p>
            <a:endParaRPr lang="en-IN" sz="2400" dirty="0"/>
          </a:p>
          <a:p>
            <a:r>
              <a:rPr lang="en-IN" sz="2400" dirty="0"/>
              <a:t>Predictive Score       : 0.2494</a:t>
            </a:r>
          </a:p>
          <a:p>
            <a:endParaRPr lang="en-IN" sz="2400" dirty="0"/>
          </a:p>
          <a:p>
            <a:r>
              <a:rPr lang="en-IN" sz="2400" dirty="0"/>
              <a:t>Correlation Similarity : 0.9801</a:t>
            </a:r>
          </a:p>
          <a:p>
            <a:endParaRPr lang="en-IN" sz="2400" dirty="0"/>
          </a:p>
          <a:p>
            <a:r>
              <a:rPr lang="en-IN" sz="2400" dirty="0"/>
              <a:t>Wasserstein Distance   : 0.0084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marL="0" indent="0">
              <a:buNone/>
            </a:pPr>
            <a:r>
              <a:rPr lang="en-IN" sz="2400" b="0" dirty="0" err="1">
                <a:latin typeface="+mn-lt"/>
              </a:rPr>
              <a:t>MacroStress</a:t>
            </a:r>
            <a:r>
              <a:rPr lang="en-IN" sz="2400" b="0" dirty="0">
                <a:latin typeface="+mn-lt"/>
              </a:rPr>
              <a:t>-GAN combines Multi-Agent AI, </a:t>
            </a:r>
            <a:r>
              <a:rPr lang="en-IN" sz="2400" b="0" dirty="0" err="1">
                <a:latin typeface="+mn-lt"/>
              </a:rPr>
              <a:t>TimeGAN</a:t>
            </a:r>
            <a:r>
              <a:rPr lang="en-IN" sz="2400" b="0" dirty="0">
                <a:latin typeface="+mn-lt"/>
              </a:rPr>
              <a:t>, financial risk analytics, and portfolio optimization to enable automated and validated financial stress testing.</a:t>
            </a:r>
          </a:p>
          <a:p>
            <a:pPr marL="0" indent="0">
              <a:buNone/>
            </a:pPr>
            <a:endParaRPr lang="en-IN" sz="2400" b="0" dirty="0">
              <a:solidFill>
                <a:srgbClr val="5583D1"/>
              </a:solidFill>
              <a:latin typeface="+mn-lt"/>
            </a:endParaRPr>
          </a:p>
          <a:p>
            <a:pPr marL="0" indent="0">
              <a:buNone/>
            </a:pPr>
            <a:r>
              <a:rPr lang="en-IN" sz="2400" b="0" dirty="0">
                <a:latin typeface="+mn-lt"/>
              </a:rPr>
              <a:t>The system generates synthetic market scenarios, applies crisis-specific shocks, evaluates </a:t>
            </a:r>
            <a:r>
              <a:rPr lang="en-IN" sz="2400" b="0" dirty="0" err="1">
                <a:latin typeface="+mn-lt"/>
              </a:rPr>
              <a:t>VaR</a:t>
            </a:r>
            <a:r>
              <a:rPr lang="en-IN" sz="2400" b="0" dirty="0">
                <a:latin typeface="+mn-lt"/>
              </a:rPr>
              <a:t>, Expected Shortfall, Expected Loss, and Maximum Drawdown, and optimizes portfolio allocation. </a:t>
            </a:r>
          </a:p>
          <a:p>
            <a:pPr marL="0" indent="0">
              <a:buNone/>
            </a:pPr>
            <a:endParaRPr lang="en-IN" sz="2400" b="0" dirty="0">
              <a:latin typeface="+mn-lt"/>
            </a:endParaRPr>
          </a:p>
          <a:p>
            <a:pPr marL="0" indent="0">
              <a:buNone/>
            </a:pPr>
            <a:r>
              <a:rPr lang="en-IN" sz="2400" b="0" dirty="0">
                <a:latin typeface="+mn-lt"/>
              </a:rPr>
              <a:t>Critic-based validation and re-stress testing further verify the effectiveness of the optimized portfolio, enabling comprehensive and data-driven financial risk assessment.</a:t>
            </a:r>
          </a:p>
          <a:p>
            <a:pPr marL="0" indent="0">
              <a:buNone/>
            </a:pPr>
            <a:endParaRPr lang="en-US" sz="2400" b="0" dirty="0">
              <a:solidFill>
                <a:srgbClr val="5583D1"/>
              </a:solidFill>
              <a:latin typeface="+mn-lt"/>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
        <p:nvSpPr>
          <p:cNvPr id="7" name="TextBox 6">
            <a:extLst>
              <a:ext uri="{FF2B5EF4-FFF2-40B4-BE49-F238E27FC236}">
                <a16:creationId xmlns:a16="http://schemas.microsoft.com/office/drawing/2014/main" id="{64CC8289-FCD1-222F-85CD-5A45D3461469}"/>
              </a:ext>
            </a:extLst>
          </p:cNvPr>
          <p:cNvSpPr txBox="1"/>
          <p:nvPr/>
        </p:nvSpPr>
        <p:spPr>
          <a:xfrm>
            <a:off x="374755" y="448208"/>
            <a:ext cx="2507418" cy="707886"/>
          </a:xfrm>
          <a:prstGeom prst="rect">
            <a:avLst/>
          </a:prstGeom>
          <a:noFill/>
        </p:spPr>
        <p:txBody>
          <a:bodyPr wrap="none" rtlCol="0">
            <a:spAutoFit/>
          </a:bodyPr>
          <a:lstStyle/>
          <a:p>
            <a:r>
              <a:rPr lang="en-US" sz="4000" b="1" dirty="0">
                <a:solidFill>
                  <a:srgbClr val="5B9BD5">
                    <a:lumMod val="50000"/>
                  </a:srgbClr>
                </a:solidFill>
              </a:rPr>
              <a:t>Conclusion</a:t>
            </a:r>
            <a:endParaRPr lang="en-IN" sz="4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marL="0" indent="0">
              <a:buNone/>
            </a:pPr>
            <a:r>
              <a:rPr lang="en-IN" sz="2400" b="0" dirty="0"/>
              <a:t>I would like to express my sincere gratitude to my project guide, Dr. Ganesa Ramachandran Arunachalam, for his valuable guidance, continuous support, and constructive feedback throughout the development of this project. His expertise, encouragement, and suggestions were instrumental in successfully completing this work.</a:t>
            </a:r>
          </a:p>
          <a:p>
            <a:pPr marL="0" indent="0">
              <a:buNone/>
            </a:pPr>
            <a:endParaRPr lang="en-IN" sz="2400" b="0" dirty="0">
              <a:solidFill>
                <a:srgbClr val="5583D1"/>
              </a:solidFill>
            </a:endParaRPr>
          </a:p>
          <a:p>
            <a:pPr marL="0" indent="0">
              <a:buNone/>
            </a:pPr>
            <a:r>
              <a:rPr lang="en-IN" sz="2400" b="0" dirty="0"/>
              <a:t>I would also like to extend my sincere thanks to the faculty members and staff of Vellore Institute of Technology (VIT), Chennai, for providing the necessary facilities, resources, and academic support required to carry out this project.</a:t>
            </a:r>
          </a:p>
          <a:p>
            <a:pPr marL="0" indent="0">
              <a:lnSpc>
                <a:spcPct val="150000"/>
              </a:lnSpc>
              <a:buNone/>
            </a:pPr>
            <a:endParaRPr lang="en-US" sz="2400" b="0" dirty="0">
              <a:solidFill>
                <a:srgbClr val="5583D1"/>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Acknowledgement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lvl="0"/>
            <a:r>
              <a:rPr lang="en-IN" sz="2400" b="0" dirty="0">
                <a:latin typeface="+mn-lt"/>
              </a:rPr>
              <a:t>Yoon, J., Jarrett, D., &amp; van der Schaar, M. (2019). “Time-series Generative Adversarial Networks.” </a:t>
            </a:r>
            <a:r>
              <a:rPr lang="en-IN" sz="2400" b="0" i="1" dirty="0">
                <a:latin typeface="+mn-lt"/>
              </a:rPr>
              <a:t>Advances in Neural Information Processing Systems (</a:t>
            </a:r>
            <a:r>
              <a:rPr lang="en-IN" sz="2400" b="0" i="1" dirty="0" err="1">
                <a:latin typeface="+mn-lt"/>
              </a:rPr>
              <a:t>NeurIPS</a:t>
            </a:r>
            <a:r>
              <a:rPr lang="en-IN" sz="2400" b="0" i="1" dirty="0">
                <a:latin typeface="+mn-lt"/>
              </a:rPr>
              <a:t>).</a:t>
            </a:r>
            <a:r>
              <a:rPr lang="en-IN" sz="2400" b="0" dirty="0">
                <a:latin typeface="+mn-lt"/>
              </a:rPr>
              <a:t> </a:t>
            </a:r>
            <a:r>
              <a:rPr lang="en-IN" sz="2400" b="0" dirty="0" err="1">
                <a:latin typeface="+mn-lt"/>
                <a:hlinkClick r:id="rId2"/>
              </a:rPr>
              <a:t>NeurIPS</a:t>
            </a:r>
            <a:r>
              <a:rPr lang="en-IN" sz="2400" b="0" dirty="0">
                <a:latin typeface="+mn-lt"/>
                <a:hlinkClick r:id="rId2"/>
              </a:rPr>
              <a:t> Proceedings</a:t>
            </a:r>
            <a:endParaRPr lang="en-IN" sz="2400" b="0" dirty="0">
              <a:latin typeface="+mn-lt"/>
            </a:endParaRPr>
          </a:p>
          <a:p>
            <a:pPr marL="0" lvl="0" indent="0">
              <a:buNone/>
            </a:pPr>
            <a:endParaRPr lang="en-IN" sz="2400" b="0" dirty="0">
              <a:latin typeface="+mn-lt"/>
            </a:endParaRPr>
          </a:p>
          <a:p>
            <a:pPr lvl="0"/>
            <a:r>
              <a:rPr lang="en-IN" sz="2400" b="0" dirty="0">
                <a:latin typeface="+mn-lt"/>
              </a:rPr>
              <a:t>Meta AI. (2024). “Introducing Llama 3.1.” Meta AI. </a:t>
            </a:r>
            <a:r>
              <a:rPr lang="en-IN" sz="2400" b="0" dirty="0">
                <a:latin typeface="+mn-lt"/>
                <a:hlinkClick r:id="rId3"/>
              </a:rPr>
              <a:t>Meta AI</a:t>
            </a:r>
            <a:endParaRPr lang="en-IN" sz="2400" b="0" dirty="0">
              <a:latin typeface="+mn-lt"/>
            </a:endParaRPr>
          </a:p>
          <a:p>
            <a:pPr marL="0" lvl="0" indent="0">
              <a:buNone/>
            </a:pPr>
            <a:endParaRPr lang="en-IN" sz="2400" b="0" dirty="0">
              <a:latin typeface="+mn-lt"/>
            </a:endParaRPr>
          </a:p>
          <a:p>
            <a:pPr lvl="0"/>
            <a:r>
              <a:rPr lang="en-IN" sz="2400" b="0" dirty="0" err="1">
                <a:latin typeface="+mn-lt"/>
              </a:rPr>
              <a:t>LangGraph</a:t>
            </a:r>
            <a:r>
              <a:rPr lang="en-IN" sz="2400" b="0" dirty="0">
                <a:latin typeface="+mn-lt"/>
              </a:rPr>
              <a:t> Documentation – Framework for stateful and multi-agent workflows. </a:t>
            </a:r>
            <a:r>
              <a:rPr lang="en-IN" sz="2400" b="0" dirty="0" err="1">
                <a:latin typeface="+mn-lt"/>
                <a:hlinkClick r:id="rId4"/>
              </a:rPr>
              <a:t>LangChain</a:t>
            </a:r>
            <a:r>
              <a:rPr lang="en-IN" sz="2400" b="0" dirty="0">
                <a:latin typeface="+mn-lt"/>
                <a:hlinkClick r:id="rId4"/>
              </a:rPr>
              <a:t> Reference Docs</a:t>
            </a:r>
            <a:endParaRPr lang="en-IN" sz="2400" b="0" dirty="0">
              <a:latin typeface="+mn-lt"/>
            </a:endParaRPr>
          </a:p>
          <a:p>
            <a:pPr marL="0" lvl="0" indent="0">
              <a:buNone/>
            </a:pPr>
            <a:endParaRPr lang="en-IN" sz="2400" b="0" dirty="0">
              <a:latin typeface="+mn-lt"/>
            </a:endParaRPr>
          </a:p>
          <a:p>
            <a:pPr lvl="0"/>
            <a:r>
              <a:rPr lang="en-IN" sz="2400" b="0" dirty="0" err="1">
                <a:latin typeface="+mn-lt"/>
              </a:rPr>
              <a:t>PyTorch</a:t>
            </a:r>
            <a:r>
              <a:rPr lang="en-IN" sz="2400" b="0" dirty="0">
                <a:latin typeface="+mn-lt"/>
              </a:rPr>
              <a:t> Documentation – Deep learning and tensor computation framework. </a:t>
            </a:r>
          </a:p>
          <a:p>
            <a:pPr marL="0" indent="0">
              <a:lnSpc>
                <a:spcPct val="150000"/>
              </a:lnSpc>
              <a:buNone/>
            </a:pPr>
            <a:endParaRPr lang="en-US" sz="2400" b="0" dirty="0">
              <a:solidFill>
                <a:srgbClr val="5583D1"/>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854</TotalTime>
  <Words>1132</Words>
  <Application>Microsoft Office PowerPoint</Application>
  <PresentationFormat>Widescreen</PresentationFormat>
  <Paragraphs>158</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Calibri (Body)</vt:lpstr>
      <vt:lpstr>Frutiger 45 bold</vt:lpstr>
      <vt:lpstr>Frutiger LT Pro 45 Light</vt:lpstr>
      <vt:lpstr>source-serif-pro</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Alina NasirAga</cp:lastModifiedBy>
  <cp:revision>26</cp:revision>
  <dcterms:created xsi:type="dcterms:W3CDTF">2024-05-13T10:33:00Z</dcterms:created>
  <dcterms:modified xsi:type="dcterms:W3CDTF">2026-10-08T10:23:40Z</dcterms:modified>
</cp:coreProperties>
</file>